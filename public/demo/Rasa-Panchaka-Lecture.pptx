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8229600" cy="8001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N" sz="3200" dirty="0"/>
              <a:t>Rasa Panchaka — an overview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257300"/>
            <a:ext cx="8229600" cy="3543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N" sz="2000" dirty="0"/>
              <a:t>Rasa, Guna, Virya, Vipaka, Prabhava</a:t>
            </a:r>
          </a:p>
          <a:p>
            <a:r>
              <a:rPr lang="en-IN" sz="2000" dirty="0"/>
              <a:t>The five factors by which a Dravya acts</a:t>
            </a:r>
          </a:p>
          <a:p>
            <a:r>
              <a:rPr lang="en-IN" sz="2000" dirty="0"/>
              <a:t>Dravyaguna Vigyan · BAMS 2nd Professional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8229600" cy="8001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N" sz="3200" dirty="0"/>
              <a:t>Shad Rasa and Mahabhuta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257300"/>
            <a:ext cx="8229600" cy="3543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N" sz="2000" dirty="0"/>
              <a:t>Madhura: Prithvi + Jala</a:t>
            </a:r>
          </a:p>
          <a:p>
            <a:r>
              <a:rPr lang="en-IN" sz="2000" dirty="0"/>
              <a:t>Tikta: Vayu + Akasha</a:t>
            </a:r>
          </a:p>
          <a:p>
            <a:r>
              <a:rPr lang="en-IN" sz="2000" dirty="0"/>
              <a:t>Katu: Vayu + Agni</a:t>
            </a:r>
          </a:p>
          <a:p>
            <a:r>
              <a:rPr lang="en-IN" sz="2000" dirty="0"/>
              <a:t>Rasa is perceived by Rasanendriya (the tongue)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8229600" cy="8001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N" sz="3200" dirty="0"/>
              <a:t>Virya: Ushna and Shita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257300"/>
            <a:ext cx="8229600" cy="3543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N" sz="2000" dirty="0"/>
              <a:t>Ushna Virya: Maricha, Chitraka — increase Pitta</a:t>
            </a:r>
          </a:p>
          <a:p>
            <a:r>
              <a:rPr lang="en-IN" sz="2000" dirty="0"/>
              <a:t>Shita Virya: Chandana, Ushira — pacify Pitta</a:t>
            </a:r>
          </a:p>
          <a:p>
            <a:r>
              <a:rPr lang="en-IN" sz="2000" dirty="0"/>
              <a:t>Virya is the potency by which a drug 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8229600" cy="8001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N" sz="3200" dirty="0"/>
              <a:t>Vipaka and Prabhava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257300"/>
            <a:ext cx="8229600" cy="3543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N" sz="2000" dirty="0"/>
              <a:t>Madhura, Amla and Katu Vipaka</a:t>
            </a:r>
          </a:p>
          <a:p>
            <a:r>
              <a:rPr lang="en-IN" sz="2000" dirty="0"/>
              <a:t>Katu Vipaka arises from Katu, Tikta and Kashaya Rasa</a:t>
            </a:r>
          </a:p>
          <a:p>
            <a:r>
              <a:rPr lang="en-IN" sz="2000" dirty="0"/>
              <a:t>Prabhava: Danti versus Chitraka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ill Setu">
  <a:themeElements>
    <a:clrScheme name="Skill Setu">
      <a:dk1>
        <a:srgbClr val="1F2A24"/>
      </a:dk1>
      <a:lt1>
        <a:srgbClr val="FFFFFF"/>
      </a:lt1>
      <a:dk2>
        <a:srgbClr val="2F4F3A"/>
      </a:dk2>
      <a:lt2>
        <a:srgbClr val="F4F1E8"/>
      </a:lt2>
      <a:accent1>
        <a:srgbClr val="6B7F3A"/>
      </a:accent1>
      <a:accent2>
        <a:srgbClr val="A8743A"/>
      </a:accent2>
      <a:accent3>
        <a:srgbClr val="3C7C6B"/>
      </a:accent3>
      <a:accent4>
        <a:srgbClr val="8C5A3C"/>
      </a:accent4>
      <a:accent5>
        <a:srgbClr val="5A6E8C"/>
      </a:accent5>
      <a:accent6>
        <a:srgbClr val="9C8A3C"/>
      </a:accent6>
      <a:hlink>
        <a:srgbClr val="3C7C6B"/>
      </a:hlink>
      <a:folHlink>
        <a:srgbClr val="6B7F3A"/>
      </a:folHlink>
    </a:clrScheme>
    <a:fontScheme name="Skill Setu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kill Setu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